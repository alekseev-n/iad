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2" r:id="rId8"/>
    <p:sldId id="266" r:id="rId9"/>
    <p:sldId id="267" r:id="rId10"/>
    <p:sldId id="268" r:id="rId11"/>
    <p:sldId id="269" r:id="rId12"/>
    <p:sldId id="276" r:id="rId13"/>
  </p:sldIdLst>
  <p:sldSz cx="12192000" cy="6858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302">
          <p15:clr>
            <a:srgbClr val="A4A3A4"/>
          </p15:clr>
        </p15:guide>
        <p15:guide id="4" pos="7378">
          <p15:clr>
            <a:srgbClr val="A4A3A4"/>
          </p15:clr>
        </p15:guide>
        <p15:guide id="5" orient="horz" pos="3906">
          <p15:clr>
            <a:srgbClr val="A4A3A4"/>
          </p15:clr>
        </p15:guide>
        <p15:guide id="6" orient="horz" pos="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1" autoAdjust="0"/>
    <p:restoredTop sz="91513"/>
  </p:normalViewPr>
  <p:slideViewPr>
    <p:cSldViewPr snapToGrid="0">
      <p:cViewPr>
        <p:scale>
          <a:sx n="75" d="100"/>
          <a:sy n="75" d="100"/>
        </p:scale>
        <p:origin x="955" y="130"/>
      </p:cViewPr>
      <p:guideLst>
        <p:guide pos="3840"/>
        <p:guide orient="horz" pos="2160"/>
        <p:guide pos="302"/>
        <p:guide pos="7378"/>
        <p:guide orient="horz" pos="3906"/>
        <p:guide orient="horz" pos="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EditPoints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Autofit/>
          </a:bodyPr>
          <a:lstStyle>
            <a:lvl1pPr marR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>
            <a:spLocks noGrp="1" noEditPoints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Autofit/>
          </a:bodyPr>
          <a:lstStyle>
            <a:lvl1pPr marR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 noEditPoints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6" name="Google Shape;6;n"/>
          <p:cNvSpPr>
            <a:spLocks noGrp="1" noEditPoint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Autofit/>
          </a:bodyPr>
          <a:lstStyle>
            <a:lvl1pPr marL="457200" marR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</a:p>
        </p:txBody>
      </p:sp>
      <p:sp>
        <p:nvSpPr>
          <p:cNvPr id="7" name="Google Shape;7;n"/>
          <p:cNvSpPr>
            <a:spLocks noGrp="1" noEditPoints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>
            <a:noAutofit/>
          </a:bodyPr>
          <a:lstStyle>
            <a:lvl1pPr marR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>
            <a:spLocks noGrp="1" noEditPoints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>
            <a:noAutofit/>
          </a:bodyPr>
          <a:lstStyle/>
          <a:p>
            <a:pPr marL="0" marR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sldNum="0" hdr="0" ftr="0"/>
  <p:notesStyle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2F33FEB-22F6-4860-BF36-CE9F8CCCFE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259ED27-46A4-4448-BF2C-977DE5FC0D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9F5D42A-4E58-476D-B77E-83ACBDA49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77320A-6607-49AE-968E-482995A898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96A77AC-7029-40B9-90A3-675618FC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A58E7F9-18E7-4368-886D-2FD3EE8888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2A7BB55-FD28-42BF-86D5-622A96D74D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B839E06-A36D-4507-9A4D-80A8A04FC4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156FA83-8A43-4251-B3C4-9D65236C61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F0EC2BE-6CC2-43C1-8C87-252EE9DE7A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17A47988-AD04-48D8-9583-9DDE6BFF2C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>
            <a:spLocks noGrp="1" noEditPoints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wrap="square" lIns="121900" tIns="121900" rIns="121900" bIns="121900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>
            <a:spLocks noGrp="1" noEditPoints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pPr lvl="0"/>
          </a:p>
        </p:txBody>
      </p:sp>
      <p:sp>
        <p:nvSpPr>
          <p:cNvPr id="16" name="Google Shape;16;p2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>
            <a:spLocks noGrp="1" noEditPoints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22" name="Google Shape;22;p4"/>
          <p:cNvSpPr>
            <a:spLocks noGrp="1" noEditPoints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</a:lvl9pPr>
          </a:lstStyle>
          <a:p>
            <a:pPr lvl="0"/>
          </a:p>
        </p:txBody>
      </p:sp>
      <p:sp>
        <p:nvSpPr>
          <p:cNvPr id="23" name="Google Shape;23;p4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>
            <a:spLocks noGrp="1" noEditPoints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26" name="Google Shape;26;p5"/>
          <p:cNvSpPr>
            <a:spLocks noGrp="1" noEditPoints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27" name="Google Shape;27;p5"/>
          <p:cNvSpPr>
            <a:spLocks noGrp="1" noEditPoints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28" name="Google Shape;28;p5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>
            <a:spLocks noGrp="1" noEditPoints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31" name="Google Shape;31;p6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>
            <a:spLocks noGrp="1" noEditPoints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wrap="square" lIns="121900" tIns="121900" rIns="121900" bIns="121900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>
            <a:spLocks noGrp="1" noEditPoints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35" name="Google Shape;35;p7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>
            <a:spLocks noGrp="1" noEditPoints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21900" tIns="121900" rIns="121900" bIns="12190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9"/>
          <p:cNvSpPr>
            <a:spLocks noGrp="1" noEditPoints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wrap="square" lIns="121900" tIns="121900" rIns="121900" bIns="121900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>
            <a:spLocks noGrp="1" noEditPoints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lvl="0"/>
          </a:p>
        </p:txBody>
      </p:sp>
      <p:sp>
        <p:nvSpPr>
          <p:cNvPr id="43" name="Google Shape;43;p9"/>
          <p:cNvSpPr>
            <a:spLocks noGrp="1" noEditPoints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</a:lvl9pPr>
          </a:lstStyle>
          <a:p>
            <a:pPr lvl="0"/>
          </a:p>
        </p:txBody>
      </p:sp>
      <p:sp>
        <p:nvSpPr>
          <p:cNvPr id="44" name="Google Shape;44;p9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>
            <a:spLocks noGrp="1" noEditPoints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lvl1pPr>
          </a:lstStyle>
          <a:p>
            <a:pPr lvl="0"/>
          </a:p>
        </p:txBody>
      </p:sp>
      <p:sp>
        <p:nvSpPr>
          <p:cNvPr id="47" name="Google Shape;47;p10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>
            <a:spLocks noGrp="1" noEditPoints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wrap="square" lIns="121900" tIns="121900" rIns="121900" bIns="121900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>
            <a:spLocks noGrp="1" noEditPoints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</a:lvl9pPr>
          </a:lstStyle>
          <a:p>
            <a:pPr lvl="0"/>
          </a:p>
        </p:txBody>
      </p:sp>
      <p:sp>
        <p:nvSpPr>
          <p:cNvPr id="51" name="Google Shape;51;p11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1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488951" y="558800"/>
            <a:ext cx="5607050" cy="1515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ИФЭ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11290040" y="6210106"/>
            <a:ext cx="902100" cy="380700"/>
          </a:xfrm>
          <a:prstGeom prst="rect">
            <a:avLst/>
          </a:prstGeom>
          <a:solidFill>
            <a:srgbClr val="004892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1">
            <a:alphaModFix/>
          </a:blip>
          <a:srcRect/>
          <a:stretch>
            <a:fillRect/>
          </a:stretch>
        </p:blipFill>
        <p:spPr>
          <a:xfrm>
            <a:off x="18662" y="0"/>
            <a:ext cx="13128168" cy="135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58621" y="27778"/>
            <a:ext cx="1159089" cy="1278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12120465" y="-22539"/>
            <a:ext cx="71400" cy="1368000"/>
          </a:xfrm>
          <a:prstGeom prst="rect">
            <a:avLst/>
          </a:prstGeom>
          <a:solidFill>
            <a:srgbClr val="E2000F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12132905" y="6210106"/>
            <a:ext cx="71400" cy="381600"/>
          </a:xfrm>
          <a:prstGeom prst="rect">
            <a:avLst/>
          </a:prstGeom>
          <a:solidFill>
            <a:srgbClr val="E2000F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>
            <a:spLocks noGrp="1" noEditPoints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>
            <a:spLocks noGrp="1" noEditPoints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t">
            <a:noAutofit/>
          </a:bodyPr>
          <a:lstStyle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pPr lvl="0"/>
          </a:p>
        </p:txBody>
      </p:sp>
      <p:sp>
        <p:nvSpPr>
          <p:cNvPr id="12" name="Google Shape;12;p1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ctr">
            <a:noAutofit/>
          </a:bodyPr>
          <a:lstStyle>
            <a:lvl1pPr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hdr="0" ftr="0"/>
  <p:txStyles>
    <p:title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1480" y="301752"/>
            <a:ext cx="5669280" cy="1533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148840"/>
            <a:ext cx="9509760" cy="11946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3600" b="1" i="0" dirty="0" err="1">
                <a:solidFill>
                  <a:srgbClr val="083766"/>
                </a:solidFill>
                <a:latin typeface="Calibri"/>
              </a:rPr>
              <a:t>Решение</a:t>
            </a:r>
            <a:r>
              <a:rPr sz="360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083766"/>
                </a:solidFill>
                <a:latin typeface="Calibri"/>
              </a:rPr>
              <a:t>задачи</a:t>
            </a:r>
            <a:r>
              <a:rPr sz="360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lang="ru-RU" sz="3600" b="1" i="0" dirty="0">
                <a:solidFill>
                  <a:srgbClr val="083766"/>
                </a:solidFill>
                <a:latin typeface="Calibri"/>
              </a:rPr>
              <a:t>о назначении</a:t>
            </a:r>
            <a:endParaRPr sz="3600" b="1" i="0" dirty="0">
              <a:solidFill>
                <a:srgbClr val="083766"/>
              </a:solidFill>
              <a:latin typeface="Calibri"/>
            </a:endParaRP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3600" b="1" i="0" dirty="0" err="1">
                <a:solidFill>
                  <a:srgbClr val="083766"/>
                </a:solidFill>
                <a:latin typeface="Calibri"/>
              </a:rPr>
              <a:t>генетическим</a:t>
            </a:r>
            <a:r>
              <a:rPr sz="360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083766"/>
                </a:solidFill>
                <a:latin typeface="Calibri"/>
              </a:rPr>
              <a:t>алгоритмом</a:t>
            </a:r>
            <a:endParaRPr sz="3600" b="1" i="0" dirty="0">
              <a:solidFill>
                <a:srgbClr val="083766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02150" y="3492183"/>
            <a:ext cx="5111299" cy="3177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ru-RU" sz="1900" b="0" i="0" dirty="0" err="1">
                <a:solidFill>
                  <a:srgbClr val="D32118"/>
                </a:solidFill>
                <a:latin typeface="Calibri"/>
              </a:rPr>
              <a:t>Схема</a:t>
            </a:r>
            <a:r>
              <a:rPr sz="1900" b="0" i="0" dirty="0">
                <a:solidFill>
                  <a:srgbClr val="D32118"/>
                </a:solidFill>
                <a:latin typeface="Calibri"/>
              </a:rPr>
              <a:t>: </a:t>
            </a:r>
            <a:r>
              <a:rPr lang="ru-RU" sz="1900" b="0" i="0" dirty="0">
                <a:solidFill>
                  <a:srgbClr val="D32118"/>
                </a:solidFill>
                <a:latin typeface="Calibri"/>
              </a:rPr>
              <a:t>блочная перестановка</a:t>
            </a:r>
            <a:r>
              <a:rPr sz="1900" b="0" i="0" dirty="0">
                <a:solidFill>
                  <a:srgbClr val="D32118"/>
                </a:solidFill>
                <a:latin typeface="Calibri"/>
              </a:rPr>
              <a:t> и </a:t>
            </a:r>
            <a:r>
              <a:rPr lang="ru-RU" sz="1900" b="0" i="0" dirty="0">
                <a:solidFill>
                  <a:srgbClr val="D32118"/>
                </a:solidFill>
                <a:latin typeface="Calibri"/>
              </a:rPr>
              <a:t>турнирный отбор</a:t>
            </a:r>
            <a:endParaRPr sz="1900" b="0" i="0" dirty="0">
              <a:solidFill>
                <a:srgbClr val="D3211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4526280"/>
            <a:ext cx="6035040" cy="5843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1" i="0" dirty="0" err="1">
                <a:solidFill>
                  <a:srgbClr val="083766"/>
                </a:solidFill>
                <a:latin typeface="Calibri"/>
              </a:rPr>
              <a:t>Группа</a:t>
            </a:r>
            <a:r>
              <a:rPr sz="170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lang="ru-RU" sz="1700" b="1" i="0" dirty="0">
                <a:solidFill>
                  <a:srgbClr val="083766"/>
                </a:solidFill>
                <a:latin typeface="Calibri"/>
              </a:rPr>
              <a:t>2</a:t>
            </a:r>
            <a:endParaRPr sz="1700" b="1" i="0" dirty="0">
              <a:solidFill>
                <a:srgbClr val="083766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ru-RU" sz="1550" b="0" i="0" dirty="0">
                <a:solidFill>
                  <a:srgbClr val="16232E"/>
                </a:solidFill>
                <a:latin typeface="Calibri"/>
              </a:rPr>
              <a:t>Алексеев Н., </a:t>
            </a:r>
            <a:r>
              <a:rPr lang="ru-RU" sz="1550" b="0" i="0" dirty="0" err="1">
                <a:solidFill>
                  <a:srgbClr val="16232E"/>
                </a:solidFill>
                <a:latin typeface="Calibri"/>
              </a:rPr>
              <a:t>Ветляков</a:t>
            </a:r>
            <a:r>
              <a:rPr lang="ru-RU" sz="1550" b="0" i="0" dirty="0">
                <a:solidFill>
                  <a:srgbClr val="16232E"/>
                </a:solidFill>
                <a:latin typeface="Calibri"/>
              </a:rPr>
              <a:t> Р., Ким С., Линдберг И., Чуркин 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4476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5A6472"/>
                </a:solidFill>
                <a:latin typeface="Calibri"/>
              </a:rPr>
              <a:t>Москва, 2026</a:t>
            </a:r>
          </a:p>
        </p:txBody>
      </p:sp>
      <p:sp>
        <p:nvSpPr>
          <p:cNvPr id="8" name="Номер слайда 7"/>
          <p:cNvSpPr>
            <a:spLocks noGrp="1" noEditPoints="1"/>
          </p:cNvSpPr>
          <p:nvPr>
            <p:ph type="sldNum" idx="12"/>
          </p:nvPr>
        </p:nvSpPr>
        <p:spPr/>
        <p:txBody>
          <a:bodyPr/>
          <a:lstStyle/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82880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64" y="2186434"/>
            <a:ext cx="6766560" cy="8897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ru-RU" sz="1550" b="0" i="0" dirty="0">
                <a:solidFill>
                  <a:srgbClr val="16232E"/>
                </a:solidFill>
                <a:latin typeface="Calibri"/>
              </a:rPr>
              <a:t>Дано </a:t>
            </a:r>
            <a:r>
              <a:rPr lang="ru-RU" sz="1550" dirty="0">
                <a:solidFill>
                  <a:srgbClr val="16232E"/>
                </a:solidFill>
                <a:latin typeface="Calibri"/>
              </a:rPr>
              <a:t>n мест и n работников. Необходимо распределить места между работниками так, чтобы каждый из них занимал одно и только одно место.</a:t>
            </a:r>
            <a:endParaRPr lang="ru-RU" sz="1550" b="0" i="0" dirty="0">
              <a:solidFill>
                <a:srgbClr val="16232E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 i="0" dirty="0" err="1">
                <a:solidFill>
                  <a:srgbClr val="083766"/>
                </a:solidFill>
                <a:latin typeface="Calibri"/>
              </a:rPr>
              <a:t>Требуется</a:t>
            </a:r>
            <a:r>
              <a:rPr sz="155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sz="1550" b="1" i="0" dirty="0" err="1">
                <a:solidFill>
                  <a:srgbClr val="083766"/>
                </a:solidFill>
                <a:latin typeface="Calibri"/>
              </a:rPr>
              <a:t>найти</a:t>
            </a:r>
            <a:r>
              <a:rPr sz="155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lang="ru-RU" sz="1550" b="1" i="0" dirty="0">
                <a:solidFill>
                  <a:srgbClr val="083766"/>
                </a:solidFill>
                <a:latin typeface="Calibri"/>
              </a:rPr>
              <a:t>назначение минимальной суммарной стоимости	</a:t>
            </a:r>
            <a:r>
              <a:rPr sz="1550" b="1" i="0" dirty="0">
                <a:solidFill>
                  <a:srgbClr val="083766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7264" y="3457022"/>
            <a:ext cx="6766560" cy="1298448"/>
          </a:xfrm>
          <a:prstGeom prst="roundRect">
            <a:avLst>
              <a:gd name="adj" fmla="val 35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7576" y="3585038"/>
            <a:ext cx="6309360" cy="10291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i="0" dirty="0" err="1">
                <a:solidFill>
                  <a:srgbClr val="083766"/>
                </a:solidFill>
                <a:latin typeface="Calibri"/>
              </a:rPr>
              <a:t>Исходные</a:t>
            </a:r>
            <a:r>
              <a:rPr sz="1400" b="1" i="0" dirty="0">
                <a:solidFill>
                  <a:srgbClr val="083766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83766"/>
                </a:solidFill>
                <a:latin typeface="Calibri"/>
              </a:rPr>
              <a:t>данные</a:t>
            </a:r>
            <a:endParaRPr sz="1400" b="1" i="0" dirty="0">
              <a:solidFill>
                <a:srgbClr val="083766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 i="0" dirty="0">
                <a:solidFill>
                  <a:srgbClr val="16232E"/>
                </a:solidFill>
                <a:latin typeface="Calibri"/>
              </a:rPr>
              <a:t>n — </a:t>
            </a:r>
            <a:r>
              <a:rPr sz="1400" b="0" i="0" dirty="0" err="1">
                <a:solidFill>
                  <a:srgbClr val="16232E"/>
                </a:solidFill>
                <a:latin typeface="Calibri"/>
              </a:rPr>
              <a:t>количество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lang="ru-RU" dirty="0">
                <a:solidFill>
                  <a:srgbClr val="16232E"/>
                </a:solidFill>
                <a:latin typeface="Calibri"/>
              </a:rPr>
              <a:t>мест/работников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;   C = ‖</a:t>
            </a:r>
            <a:r>
              <a:rPr sz="1400" b="0" i="0" dirty="0" err="1">
                <a:solidFill>
                  <a:srgbClr val="16232E"/>
                </a:solidFill>
                <a:latin typeface="Calibri"/>
              </a:rPr>
              <a:t>c_ij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‖ — </a:t>
            </a:r>
            <a:r>
              <a:rPr sz="1400" b="0" i="0" dirty="0" err="1">
                <a:solidFill>
                  <a:srgbClr val="16232E"/>
                </a:solidFill>
                <a:latin typeface="Calibri"/>
              </a:rPr>
              <a:t>матрица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6232E"/>
                </a:solidFill>
                <a:latin typeface="Calibri"/>
              </a:rPr>
              <a:t>стоимостей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lang="ru-RU" sz="1400" b="0" i="0" dirty="0">
                <a:solidFill>
                  <a:srgbClr val="16232E"/>
                </a:solidFill>
                <a:latin typeface="Calibri"/>
              </a:rPr>
              <a:t>назначения работников на места </a:t>
            </a:r>
            <a:r>
              <a:rPr sz="1400" b="0" i="0" dirty="0" err="1">
                <a:solidFill>
                  <a:srgbClr val="16232E"/>
                </a:solidFill>
                <a:latin typeface="Calibri"/>
              </a:rPr>
              <a:t>размера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 n × n;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 i="0" dirty="0" err="1">
                <a:solidFill>
                  <a:srgbClr val="16232E"/>
                </a:solidFill>
                <a:latin typeface="Calibri"/>
              </a:rPr>
              <a:t>c_ij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 ≥ 0 — </a:t>
            </a:r>
            <a:r>
              <a:rPr sz="1400" b="0" i="0" dirty="0" err="1">
                <a:solidFill>
                  <a:srgbClr val="16232E"/>
                </a:solidFill>
                <a:latin typeface="Calibri"/>
              </a:rPr>
              <a:t>стоимость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lang="ru-RU" sz="1400" b="0" i="0" dirty="0">
                <a:solidFill>
                  <a:srgbClr val="16232E"/>
                </a:solidFill>
                <a:latin typeface="Calibri"/>
              </a:rPr>
              <a:t>назначения работника </a:t>
            </a:r>
            <a:r>
              <a:rPr lang="en-US" dirty="0" err="1">
                <a:solidFill>
                  <a:srgbClr val="16232E"/>
                </a:solidFill>
                <a:latin typeface="Calibri"/>
              </a:rPr>
              <a:t>i</a:t>
            </a:r>
            <a:r>
              <a:rPr lang="en-US" dirty="0">
                <a:solidFill>
                  <a:srgbClr val="16232E"/>
                </a:solidFill>
                <a:latin typeface="Calibri"/>
              </a:rPr>
              <a:t> </a:t>
            </a:r>
            <a:r>
              <a:rPr lang="ru-RU" dirty="0">
                <a:solidFill>
                  <a:srgbClr val="16232E"/>
                </a:solidFill>
                <a:latin typeface="Calibri"/>
              </a:rPr>
              <a:t>на место </a:t>
            </a:r>
            <a:r>
              <a:rPr lang="en-US" dirty="0">
                <a:solidFill>
                  <a:srgbClr val="16232E"/>
                </a:solidFill>
                <a:latin typeface="Calibri"/>
              </a:rPr>
              <a:t>j</a:t>
            </a:r>
            <a:r>
              <a:rPr sz="1400" b="0" i="0" dirty="0">
                <a:solidFill>
                  <a:srgbClr val="1623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82880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Математическая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" y="328777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083766"/>
                </a:solidFill>
                <a:latin typeface="Calibri"/>
              </a:rPr>
              <a:t>Целевая функция и ограничения</a:t>
            </a:r>
          </a:p>
        </p:txBody>
      </p:sp>
      <p:pic>
        <p:nvPicPr>
          <p:cNvPr id="13" name="Picture 12" descr="f_obj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60576" y="3726688"/>
            <a:ext cx="3127248" cy="1042415"/>
          </a:xfrm>
          <a:prstGeom prst="rect">
            <a:avLst/>
          </a:prstGeom>
        </p:spPr>
      </p:pic>
      <p:pic>
        <p:nvPicPr>
          <p:cNvPr id="15" name="Picture 14" descr="f_c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14069" y="3726688"/>
            <a:ext cx="1558820" cy="10424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6720" y="4970272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минимум суммарной стоимости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4970272"/>
            <a:ext cx="5394960" cy="422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ru-RU" sz="1250" dirty="0">
                <a:solidFill>
                  <a:srgbClr val="5A6472"/>
                </a:solidFill>
                <a:latin typeface="Calibri"/>
              </a:rPr>
              <a:t>На одно место – один сотрудник,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ru-RU" sz="1250" dirty="0">
                <a:solidFill>
                  <a:srgbClr val="5A6472"/>
                </a:solidFill>
                <a:latin typeface="Calibri"/>
              </a:rPr>
              <a:t>Каждое место должно быть занято</a:t>
            </a:r>
            <a:endParaRPr sz="1250" b="0" i="0" dirty="0">
              <a:solidFill>
                <a:srgbClr val="5A6472"/>
              </a:solidFill>
              <a:latin typeface="Calibri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3480" y="2233193"/>
            <a:ext cx="6201640" cy="7335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3480" y="1756689"/>
            <a:ext cx="11064240" cy="2446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ru-RU" sz="1500" b="1" i="0" dirty="0">
                <a:solidFill>
                  <a:srgbClr val="083766"/>
                </a:solidFill>
                <a:latin typeface="Calibri"/>
              </a:rPr>
              <a:t>Матрица назначений</a:t>
            </a:r>
            <a:endParaRPr sz="1500" b="1" i="0" dirty="0">
              <a:solidFill>
                <a:srgbClr val="0837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82880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Представление особи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7" y="1802939"/>
            <a:ext cx="5943600" cy="259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0" i="0" dirty="0" err="1">
                <a:solidFill>
                  <a:srgbClr val="16232E"/>
                </a:solidFill>
                <a:latin typeface="Calibri"/>
              </a:rPr>
              <a:t>Особь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— </a:t>
            </a:r>
            <a:r>
              <a:rPr sz="1550" b="0" i="0" dirty="0" err="1">
                <a:solidFill>
                  <a:srgbClr val="16232E"/>
                </a:solidFill>
                <a:latin typeface="Calibri"/>
              </a:rPr>
              <a:t>вектор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16232E"/>
                </a:solidFill>
                <a:latin typeface="Calibri"/>
              </a:rPr>
              <a:t>длины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n. </a:t>
            </a:r>
            <a:r>
              <a:rPr lang="ru-RU" sz="1550" b="0" i="0" dirty="0" err="1">
                <a:solidFill>
                  <a:srgbClr val="16232E"/>
                </a:solidFill>
                <a:latin typeface="Calibri"/>
              </a:rPr>
              <a:t>Сотрудник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16232E"/>
                </a:solidFill>
                <a:latin typeface="Calibri"/>
              </a:rPr>
              <a:t>i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16232E"/>
                </a:solidFill>
                <a:latin typeface="Calibri"/>
              </a:rPr>
              <a:t>назначается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lang="ru-RU" sz="1550" b="0" i="0" dirty="0">
                <a:solidFill>
                  <a:srgbClr val="16232E"/>
                </a:solidFill>
                <a:latin typeface="Calibri"/>
              </a:rPr>
              <a:t>на место номер</a:t>
            </a:r>
            <a:r>
              <a:rPr sz="15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16232E"/>
                </a:solidFill>
                <a:latin typeface="Calibri"/>
              </a:rPr>
              <a:t>x_i</a:t>
            </a:r>
            <a:r>
              <a:rPr lang="ru-RU" sz="1550" b="0" i="0" dirty="0">
                <a:solidFill>
                  <a:srgbClr val="16232E"/>
                </a:solidFill>
                <a:latin typeface="Calibri"/>
              </a:rPr>
              <a:t>.</a:t>
            </a:r>
            <a:endParaRPr sz="1550" b="0" i="0" dirty="0">
              <a:solidFill>
                <a:srgbClr val="16232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7" y="2445234"/>
            <a:ext cx="5943600" cy="868680"/>
          </a:xfrm>
          <a:prstGeom prst="roundRect">
            <a:avLst>
              <a:gd name="adj" fmla="val 35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_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39400" y="2591538"/>
            <a:ext cx="3798652" cy="5760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85876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083766"/>
                </a:solidFill>
                <a:latin typeface="Calibri"/>
              </a:rPr>
              <a:t>Целевая функция особи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87689" y="4448396"/>
            <a:ext cx="2474711" cy="13369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82880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Генерирование допустимого решения и популяции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15" y="2348435"/>
            <a:ext cx="5212080" cy="13389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ru-RU" sz="1450" b="0" i="0" dirty="0">
                <a:solidFill>
                  <a:srgbClr val="16232E"/>
                </a:solidFill>
                <a:latin typeface="Calibri"/>
              </a:rPr>
              <a:t>Допустимое решение генерируется случайной перестановкой последовательности чисел от 1 до n, где n - кол-во мест/работников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ru-RU" sz="1450" b="0" i="0" dirty="0">
                <a:solidFill>
                  <a:srgbClr val="16232E"/>
                </a:solidFill>
                <a:latin typeface="Calibri"/>
              </a:rPr>
              <a:t>Повторение генерации до получения N уникальных решений даёт начальную популяцию</a:t>
            </a:r>
            <a:endParaRPr sz="1450" b="0" i="0" dirty="0">
              <a:solidFill>
                <a:srgbClr val="16232E"/>
              </a:solidFill>
              <a:latin typeface="Calibri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71995" y="1794290"/>
            <a:ext cx="6620005" cy="189143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9234" y="3815556"/>
            <a:ext cx="5734850" cy="29055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0" y="6341806"/>
            <a:ext cx="4070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itchFamily="34" charset="0" panose="020B0502040204020203"/>
              </a:rPr>
              <a:t>Генерация популяции при тестировании алгоритма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013" y="3687391"/>
            <a:ext cx="4070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itchFamily="34" charset="0" panose="020B0502040204020203"/>
              </a:rPr>
              <a:t>Алгоритм генерации популяции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341894"/>
            <a:ext cx="99669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 err="1">
                <a:solidFill>
                  <a:srgbClr val="FFFFFF"/>
                </a:solidFill>
                <a:latin typeface="Calibri"/>
              </a:rPr>
              <a:t>Вычисление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приспособленности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особи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2800" b="1" dirty="0">
                <a:solidFill>
                  <a:srgbClr val="FFFFFF"/>
                </a:solidFill>
                <a:latin typeface="Calibri"/>
              </a:rPr>
              <a:t>и популяции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7598" y="1793942"/>
            <a:ext cx="5047291" cy="536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ru-RU" sz="1600" b="0" i="0" dirty="0">
                <a:solidFill>
                  <a:srgbClr val="16232E"/>
                </a:solidFill>
                <a:latin typeface="Calibri"/>
              </a:rPr>
              <a:t>В качестве величины приспособленности берется обратная к стоимости допустимого решения величина</a:t>
            </a:r>
            <a:endParaRPr sz="1600" b="0" i="0" dirty="0">
              <a:solidFill>
                <a:srgbClr val="16232E"/>
              </a:solidFill>
              <a:latin typeface="Calibri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9878" y="2671148"/>
            <a:ext cx="1705213" cy="64779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46707" y="2752631"/>
            <a:ext cx="7087589" cy="6763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4909" y="3937202"/>
            <a:ext cx="6572864" cy="62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ru-RU" sz="1600" b="0" i="0" dirty="0">
                <a:solidFill>
                  <a:srgbClr val="16232E"/>
                </a:solidFill>
                <a:latin typeface="Calibri"/>
              </a:rPr>
              <a:t>Приспособленность популяции определяется как среднее приспособленностей входящих в неё особей.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7598" y="4925448"/>
            <a:ext cx="2114845" cy="771633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46707" y="5035510"/>
            <a:ext cx="6335009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82880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Алгоритм мутации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06272"/>
            <a:ext cx="5669280" cy="737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0" i="0" dirty="0" err="1">
                <a:solidFill>
                  <a:srgbClr val="16232E"/>
                </a:solidFill>
                <a:latin typeface="Calibri"/>
              </a:rPr>
              <a:t>Для</a:t>
            </a:r>
            <a:r>
              <a:rPr sz="14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6232E"/>
                </a:solidFill>
                <a:latin typeface="Calibri"/>
              </a:rPr>
              <a:t>каждой</a:t>
            </a:r>
            <a:r>
              <a:rPr sz="14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6232E"/>
                </a:solidFill>
                <a:latin typeface="Calibri"/>
              </a:rPr>
              <a:t>особи</a:t>
            </a:r>
            <a:r>
              <a:rPr sz="1450" b="0" i="0" dirty="0">
                <a:solidFill>
                  <a:srgbClr val="16232E"/>
                </a:solidFill>
                <a:latin typeface="Calibri"/>
              </a:rPr>
              <a:t> с </a:t>
            </a:r>
            <a:r>
              <a:rPr sz="1450" b="0" i="0" dirty="0" err="1">
                <a:solidFill>
                  <a:srgbClr val="16232E"/>
                </a:solidFill>
                <a:latin typeface="Calibri"/>
              </a:rPr>
              <a:t>вероятностью</a:t>
            </a:r>
            <a:r>
              <a:rPr sz="14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lang="en-US" sz="1450" dirty="0" err="1">
                <a:solidFill>
                  <a:srgbClr val="16232E"/>
                </a:solidFill>
                <a:latin typeface="Calibri"/>
              </a:rPr>
              <a:t>n</a:t>
            </a:r>
            <a:r>
              <a:rPr sz="1450" b="0" i="0" dirty="0" err="1">
                <a:solidFill>
                  <a:srgbClr val="16232E"/>
                </a:solidFill>
                <a:latin typeface="Calibri"/>
              </a:rPr>
              <a:t>_m</a:t>
            </a:r>
            <a:r>
              <a:rPr sz="1450" b="0" i="0" dirty="0">
                <a:solidFill>
                  <a:srgbClr val="16232E"/>
                </a:solidFill>
                <a:latin typeface="Calibri"/>
              </a:rPr>
              <a:t> </a:t>
            </a:r>
            <a:r>
              <a:rPr lang="ru-RU" sz="1450" b="0" i="0" dirty="0">
                <a:solidFill>
                  <a:srgbClr val="16232E"/>
                </a:solidFill>
                <a:latin typeface="Calibri"/>
              </a:rPr>
              <a:t>выбирается случайное место в хромосоме, после чего части по левую и правую стороны от этого места меняются местами – инверсия.</a:t>
            </a:r>
            <a:endParaRPr sz="1450" b="0" i="0" dirty="0">
              <a:solidFill>
                <a:srgbClr val="16232E"/>
              </a:solidFill>
              <a:latin typeface="Calibri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3400" y="3965422"/>
            <a:ext cx="6887536" cy="2810267"/>
          </a:xfrm>
          <a:prstGeom prst="rect">
            <a:avLst/>
          </a:prstGeom>
        </p:spPr>
      </p:pic>
      <p:cxnSp>
        <p:nvCxnSpPr>
          <p:cNvPr id="18" name="Прямая соединительная линия 17"/>
          <p:cNvCxnSpPr/>
          <p:nvPr/>
        </p:nvCxnSpPr>
        <p:spPr>
          <a:xfrm>
            <a:off x="203200" y="3663413"/>
            <a:ext cx="92659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Изображение 1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400" y="2785847"/>
            <a:ext cx="7679818" cy="737498"/>
          </a:xfrm>
          <a:prstGeom prst="rect">
            <a:avLst/>
          </a:prstGeom>
        </p:spPr>
      </p:pic>
      <p:sp>
        <p:nvSpPr>
          <p:cNvPr id="20" name="Текст. поле 19"/>
          <p:cNvSpPr txBox="1"/>
          <p:nvPr/>
        </p:nvSpPr>
        <p:spPr>
          <a:xfrm>
            <a:off x="533400" y="2483840"/>
            <a:ext cx="8534400" cy="30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Мутация вектора: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Текст. поле 19"/>
          <p:cNvSpPr txBox="1"/>
          <p:nvPr/>
        </p:nvSpPr>
        <p:spPr>
          <a:xfrm>
            <a:off x="533400" y="3663412"/>
            <a:ext cx="8534400" cy="30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Мутация популяции: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0160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Алгоритм отбора особей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8848" y="1991360"/>
            <a:ext cx="5669280" cy="16401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ru-RU" sz="1450" b="0" i="0" dirty="0">
                <a:solidFill>
                  <a:srgbClr val="16232E"/>
                </a:solidFill>
                <a:latin typeface="Calibri"/>
              </a:rPr>
              <a:t>Турнирный отбор. Случайным образом из популяции выбирается </a:t>
            </a:r>
            <a:r>
              <a:rPr lang="en-US" sz="1450" b="0" i="0" dirty="0">
                <a:solidFill>
                  <a:srgbClr val="16232E"/>
                </a:solidFill>
                <a:latin typeface="Calibri"/>
              </a:rPr>
              <a:t>k </a:t>
            </a:r>
            <a:r>
              <a:rPr lang="ru-RU" sz="1450" b="0" i="0" dirty="0">
                <a:solidFill>
                  <a:srgbClr val="16232E"/>
                </a:solidFill>
                <a:latin typeface="Calibri"/>
              </a:rPr>
              <a:t>особей, из которых отбирается лучшая. </a:t>
            </a:r>
            <a:r>
              <a:rPr lang="en-US" sz="1450" dirty="0">
                <a:solidFill>
                  <a:srgbClr val="16232E"/>
                </a:solidFill>
                <a:latin typeface="Calibri"/>
              </a:rPr>
              <a:t>k – </a:t>
            </a:r>
            <a:r>
              <a:rPr lang="ru-RU" sz="1450" dirty="0">
                <a:solidFill>
                  <a:srgbClr val="16232E"/>
                </a:solidFill>
                <a:latin typeface="Calibri"/>
              </a:rPr>
              <a:t>параметр.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endParaRPr lang="ru-RU" sz="1450" b="0" i="0" dirty="0">
              <a:solidFill>
                <a:srgbClr val="16232E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ru-RU" sz="1450" dirty="0">
                <a:solidFill>
                  <a:srgbClr val="16232E"/>
                </a:solidFill>
                <a:latin typeface="Calibri"/>
              </a:rPr>
              <a:t>Турнирный отбор является агрессивным, что даёт быструю сходимость. При этом решение не всегда приближено к глобальному экстремуму (см. тестирование).</a:t>
            </a:r>
            <a:endParaRPr sz="1450" b="0" i="0" dirty="0">
              <a:solidFill>
                <a:srgbClr val="16232E"/>
              </a:solidFill>
              <a:latin typeface="Calibri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2061" y="3865055"/>
            <a:ext cx="7401958" cy="2724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343614"/>
            <a:ext cx="9966960" cy="519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latin typeface="Calibri"/>
              </a:rPr>
              <a:t>Генетический алгоритм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1002" y="1412240"/>
            <a:ext cx="8854858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341894"/>
            <a:ext cx="99669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latin typeface="Calibri"/>
              </a:rPr>
              <a:t>Результаты тестирования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77213" y="1574800"/>
            <a:ext cx="765683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1480" y="301752"/>
            <a:ext cx="5669280" cy="1533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01752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 i="0">
                <a:solidFill>
                  <a:srgbClr val="083766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5A6472"/>
                </a:solidFill>
                <a:latin typeface="Calibri"/>
              </a:rPr>
              <a:t>Москва, 2026</a:t>
            </a:r>
          </a:p>
        </p:txBody>
      </p:sp>
      <p:sp>
        <p:nvSpPr>
          <p:cNvPr id="7" name="Номер слайда 6"/>
          <p:cNvSpPr>
            <a:spLocks noGrp="1" noEditPoints="1"/>
          </p:cNvSpPr>
          <p:nvPr>
            <p:ph type="sldNum" idx="12"/>
          </p:nvPr>
        </p:nvSpPr>
        <p:spPr/>
        <p:txBody>
          <a:bodyPr/>
          <a:lstStyle/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319</Words>
  <Application>Microsoft Office PowerPoint</Application>
  <PresentationFormat>Широкоэкранный</PresentationFormat>
  <Paragraphs>41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Bahnschrift Light</vt:lpstr>
      <vt:lpstr>Calibri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Проекты нормативных  правовых актов</dc:title>
  <dc:creator>Алина</dc:creator>
  <cp:lastModifiedBy>Никита</cp:lastModifiedBy>
  <cp:revision>121</cp:revision>
  <dcterms:modified xsi:type="dcterms:W3CDTF">2026-09-23T12:15:47Z</dcterms:modified>
</cp:coreProperties>
</file>